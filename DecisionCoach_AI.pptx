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8" r:id="rId12"/>
    <p:sldId id="265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 autoAdjust="0"/>
  </p:normalViewPr>
  <p:slideViewPr>
    <p:cSldViewPr snapToGrid="0" snapToObjects="1">
      <p:cViewPr varScale="1">
        <p:scale>
          <a:sx n="149" d="100"/>
          <a:sy n="149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59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problema es que muchos modelos de IA responden aunque no sepan, lo que puede generar errores. Esto es crítico cuando hablamos de decisiones o comunicación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“El sistema no usa un solo tipo de información, sino múltiples fuentes como IA, psicología y negocio. Además, cada documento tiene </a:t>
            </a:r>
            <a:r>
              <a:rPr lang="es-ES" dirty="0" err="1"/>
              <a:t>metadata</a:t>
            </a:r>
            <a:r>
              <a:rPr lang="es-ES" dirty="0"/>
              <a:t> que permite mejorar la búsqueda. Luego, los textos se dividen en fragmentos para facilitar la recuperación.”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62760-B878-3A4C-D85E-174743FB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3A882-B721-0FD0-2FFF-416DB3626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ED14B-BC4D-2E36-039E-D5C033BAE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99950-3093-BC9E-ACDF-8B174E0CD9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95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CB24-5203-4D93-B760-8F29BF13D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CE642-2EE7-04A9-196A-0C0D15FE3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84D60-15BD-75EB-54A6-D85A9B97C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3B50F-94C4-8ABA-C193-911F547587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87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6583680" cy="16002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6400800" cy="14630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DecisionCoach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- Sistema RAG para Toma de Decisiones, Comunicación e 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IA Generativa – 2026-I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0" y="548640"/>
            <a:ext cx="1920240" cy="192024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7955280" y="1371600"/>
            <a:ext cx="1097280" cy="1097280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0C6796B-4524-8A0B-0559-43B976EB6425}"/>
              </a:ext>
            </a:extLst>
          </p:cNvPr>
          <p:cNvSpPr/>
          <p:nvPr/>
        </p:nvSpPr>
        <p:spPr>
          <a:xfrm>
            <a:off x="502920" y="35661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Rios Hermoza, Martin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Validivia Alfaro, Jose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Yepez Anglas, Miguel Angel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0972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Información dispersa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documentos importantes están repartidos en archivos, PDFs y fuentes distintas.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10972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983480" y="1143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Respuestas sin fundamento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de IA generan respuestas plausibles pero a veces inventadas (alucinaciones).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10972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Búsqueda ineficiente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la información correcta en el momento adecuado toma demasiado tiempo.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10972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98348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Decisiones sin contexto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2461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rápido a evidencia, las decisiones importantes pierden calidad.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DecisionCoach 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572000" cy="3566160"/>
          </a:xfrm>
          <a:prstGeom prst="rect">
            <a:avLst/>
          </a:prstGeom>
          <a:solidFill>
            <a:srgbClr val="334155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inteligente que: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y comprende tus documentos reales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exactamente lo que necesitas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respuestas fundamentadas en evidencia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la fuente de cada afirmación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y evita alucinaciones automáticamente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66360" y="1554480"/>
            <a:ext cx="3657600" cy="713232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530352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Toma de decisiones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66360" y="2423160"/>
            <a:ext cx="3657600" cy="713232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5303520" y="2468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Comunicación estratégica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66360" y="3291840"/>
            <a:ext cx="3657600" cy="713232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5303520" y="3337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Preguntas sobre 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66360" y="4160520"/>
            <a:ext cx="3657600" cy="713232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5303520" y="4206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Consulta de documentos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(RAG)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" y="1005840"/>
            <a:ext cx="932688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201168" y="10515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01168" y="157276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TXT,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3000" y="1554480"/>
            <a:ext cx="36576" cy="0"/>
          </a:xfrm>
          <a:prstGeom prst="line">
            <a:avLst/>
          </a:prstGeom>
          <a:noFill/>
          <a:ln w="3175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1179576" y="1005840"/>
            <a:ext cx="932688" cy="1097280"/>
          </a:xfrm>
          <a:prstGeom prst="rect">
            <a:avLst/>
          </a:prstGeom>
          <a:solidFill>
            <a:srgbClr val="1A6E8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179576" y="10515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79576" y="157276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overlap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21408" y="1554480"/>
            <a:ext cx="36576" cy="0"/>
          </a:xfrm>
          <a:prstGeom prst="line">
            <a:avLst/>
          </a:prstGeom>
          <a:noFill/>
          <a:ln w="3175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2157984" y="1005840"/>
            <a:ext cx="93268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2157984" y="10515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57984" y="157276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99816" y="1554480"/>
            <a:ext cx="36576" cy="0"/>
          </a:xfrm>
          <a:prstGeom prst="line">
            <a:avLst/>
          </a:prstGeom>
          <a:noFill/>
          <a:ln w="3175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3136392" y="1005840"/>
            <a:ext cx="932688" cy="1097280"/>
          </a:xfrm>
          <a:prstGeom prst="rect">
            <a:avLst/>
          </a:prstGeom>
          <a:solidFill>
            <a:srgbClr val="0096C7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3136392" y="10515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36392" y="157276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78224" y="1554480"/>
            <a:ext cx="36576" cy="0"/>
          </a:xfrm>
          <a:prstGeom prst="line">
            <a:avLst/>
          </a:prstGeom>
          <a:noFill/>
          <a:ln w="3175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4114800" y="1005840"/>
            <a:ext cx="932688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114800" y="10515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0" y="157276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56632" y="1554480"/>
            <a:ext cx="36576" cy="0"/>
          </a:xfrm>
          <a:prstGeom prst="line">
            <a:avLst/>
          </a:prstGeom>
          <a:noFill/>
          <a:ln w="3175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5093208" y="1005840"/>
            <a:ext cx="932688" cy="1097280"/>
          </a:xfrm>
          <a:prstGeom prst="rect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5093208" y="10515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93208" y="157276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1554480"/>
            <a:ext cx="36576" cy="0"/>
          </a:xfrm>
          <a:prstGeom prst="line">
            <a:avLst/>
          </a:prstGeom>
          <a:noFill/>
          <a:ln w="3175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6071616" y="1005840"/>
            <a:ext cx="932688" cy="1097280"/>
          </a:xfrm>
          <a:prstGeom prst="rect">
            <a:avLst/>
          </a:prstGeom>
          <a:solidFill>
            <a:srgbClr val="5E9EA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6071616" y="10515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71616" y="157276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13448" y="1554480"/>
            <a:ext cx="36576" cy="0"/>
          </a:xfrm>
          <a:prstGeom prst="line">
            <a:avLst/>
          </a:prstGeom>
          <a:noFill/>
          <a:ln w="3175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Shape 30"/>
          <p:cNvSpPr/>
          <p:nvPr/>
        </p:nvSpPr>
        <p:spPr>
          <a:xfrm>
            <a:off x="7050024" y="1005840"/>
            <a:ext cx="932688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7050024" y="105156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050024" y="157276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la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" y="1389888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03120" y="1389888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81528" y="1389888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59936" y="1389888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▶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38344" y="1389888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16752" y="1389888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▶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95160" y="1389888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B2D"/>
                </a:solidFill>
              </a:rPr>
              <a:t>▶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993392" y="2382013"/>
            <a:ext cx="166420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3" name="Shape 41"/>
          <p:cNvSpPr/>
          <p:nvPr/>
        </p:nvSpPr>
        <p:spPr>
          <a:xfrm>
            <a:off x="1993392" y="2382013"/>
            <a:ext cx="16642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4" name="Text 42"/>
          <p:cNvSpPr/>
          <p:nvPr/>
        </p:nvSpPr>
        <p:spPr>
          <a:xfrm>
            <a:off x="1993392" y="2473453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993392" y="2948941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Rouge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993392" y="3342133"/>
            <a:ext cx="166420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rápida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millones de vectores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01168" y="2418344"/>
            <a:ext cx="166420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8" name="Shape 46"/>
          <p:cNvSpPr/>
          <p:nvPr/>
        </p:nvSpPr>
        <p:spPr>
          <a:xfrm>
            <a:off x="201168" y="2418344"/>
            <a:ext cx="16642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9" name="Text 47"/>
          <p:cNvSpPr/>
          <p:nvPr/>
        </p:nvSpPr>
        <p:spPr>
          <a:xfrm>
            <a:off x="201168" y="250978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01168" y="298527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01168" y="3378464"/>
            <a:ext cx="166420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 resultados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relevancia real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758184" y="2377440"/>
            <a:ext cx="166420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3" name="Shape 51"/>
          <p:cNvSpPr/>
          <p:nvPr/>
        </p:nvSpPr>
        <p:spPr>
          <a:xfrm>
            <a:off x="3758184" y="2377440"/>
            <a:ext cx="16642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4" name="Text 52"/>
          <p:cNvSpPr/>
          <p:nvPr/>
        </p:nvSpPr>
        <p:spPr>
          <a:xfrm>
            <a:off x="3758184" y="24688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3758184" y="294436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Score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758184" y="3337560"/>
            <a:ext cx="166420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s-E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basada está la respuesta en el contexto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522976" y="2377440"/>
            <a:ext cx="166420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8" name="Shape 56"/>
          <p:cNvSpPr/>
          <p:nvPr/>
        </p:nvSpPr>
        <p:spPr>
          <a:xfrm>
            <a:off x="5522976" y="2377440"/>
            <a:ext cx="16642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9" name="Text 57"/>
          <p:cNvSpPr/>
          <p:nvPr/>
        </p:nvSpPr>
        <p:spPr>
          <a:xfrm>
            <a:off x="5522976" y="24688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522976" y="294436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522976" y="3337560"/>
            <a:ext cx="166420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la respuesta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tenga respaldo en el texto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287768" y="2377440"/>
            <a:ext cx="166420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3" name="Shape 61"/>
          <p:cNvSpPr/>
          <p:nvPr/>
        </p:nvSpPr>
        <p:spPr>
          <a:xfrm>
            <a:off x="7287768" y="2377440"/>
            <a:ext cx="166420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4" name="Text 62"/>
          <p:cNvSpPr/>
          <p:nvPr/>
        </p:nvSpPr>
        <p:spPr>
          <a:xfrm>
            <a:off x="7287768" y="246888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7287768" y="2944368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per Sentence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287768" y="3337560"/>
            <a:ext cx="1664208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oración indica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fuente exacta</a:t>
            </a:r>
            <a:endParaRPr lang="en-US" sz="950" dirty="0"/>
          </a:p>
        </p:txBody>
      </p:sp>
      <p:sp>
        <p:nvSpPr>
          <p:cNvPr id="67" name="Shape 22">
            <a:extLst>
              <a:ext uri="{FF2B5EF4-FFF2-40B4-BE49-F238E27FC236}">
                <a16:creationId xmlns:a16="http://schemas.microsoft.com/office/drawing/2014/main" id="{644C8312-19F5-E16B-97AC-207F453A861F}"/>
              </a:ext>
            </a:extLst>
          </p:cNvPr>
          <p:cNvSpPr/>
          <p:nvPr/>
        </p:nvSpPr>
        <p:spPr>
          <a:xfrm>
            <a:off x="8028432" y="1000279"/>
            <a:ext cx="932688" cy="1097280"/>
          </a:xfrm>
          <a:prstGeom prst="rect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0A3A3BC5-6E2D-C105-A6BC-D325939376B0}"/>
              </a:ext>
            </a:extLst>
          </p:cNvPr>
          <p:cNvSpPr/>
          <p:nvPr/>
        </p:nvSpPr>
        <p:spPr>
          <a:xfrm>
            <a:off x="8028432" y="1045999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22DEF98D-8541-5AFE-A128-5A40AFDA0FD3}"/>
              </a:ext>
            </a:extLst>
          </p:cNvPr>
          <p:cNvSpPr/>
          <p:nvPr/>
        </p:nvSpPr>
        <p:spPr>
          <a:xfrm>
            <a:off x="8017962" y="1496836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cs typeface="Calibri" pitchFamily="34" charset="-120"/>
              </a:rPr>
              <a:t>Citation x Sentence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cs typeface="Calibri" pitchFamily="34" charset="-120"/>
              </a:rPr>
              <a:t>Hallucination Guard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cs typeface="Calibri" pitchFamily="34" charset="-120"/>
              </a:rPr>
              <a:t>Grounding Score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cs typeface="Calibri" pitchFamily="34" charset="-120"/>
              </a:rPr>
              <a:t>Bleu Rouge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+ Chunking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Dataset Externo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E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cargan documentos desde múltiples fuentes web (IA, psicología, negocio y comunicación)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E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incluye </a:t>
            </a:r>
            <a:r>
              <a:rPr lang="es-E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r>
              <a:rPr lang="es-E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s-E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s-E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s-E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E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dividen en fragmentos (</a:t>
            </a:r>
            <a:r>
              <a:rPr lang="es-E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r>
              <a:rPr lang="es-E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E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</a:t>
            </a:r>
            <a:r>
              <a:rPr lang="es-ES" sz="13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r>
              <a:rPr lang="es-E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no perder contexto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Chunking con Overlap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fragmentar?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7556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solo procesan texto corto a la vez.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Dividimos el documento en trozos manejables.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overlap?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8163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fragmentos de 512 tokens con 64 de overlap.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no se pierde contexto en los bordes.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3611880"/>
            <a:ext cx="804672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892040" y="36118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3611880"/>
            <a:ext cx="804672" cy="457200"/>
          </a:xfrm>
          <a:prstGeom prst="rect">
            <a:avLst/>
          </a:prstGeom>
          <a:solidFill>
            <a:srgbClr val="0096C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5760720" y="36118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9400" y="3611880"/>
            <a:ext cx="804672" cy="457200"/>
          </a:xfrm>
          <a:prstGeom prst="rect">
            <a:avLst/>
          </a:prstGeom>
          <a:solidFill>
            <a:srgbClr val="1A6E8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629400" y="36118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3611880"/>
            <a:ext cx="804672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7498080" y="36118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4133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overlap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HNSW + Reranker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8404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FAISS + HNSW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FAISS?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de Facebook para búsqueda ultrarrápida entre millones de vectores.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5968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HNSW?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"Hierarchical Navigable Small World": grafo de capas que permite navegar desde lo general hasta lo específico para encontrar los vecinos más cercanos en ms.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clave: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9684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revisa cada fragmento uno a uno. Salta inteligentemente entre nodos → mucho más rápido.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023360" cy="3840480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Reranker (Cross-Encoder)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reranquear?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8836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devuelve los fragmentos más cercanos matemáticamente, pero no siempre el más relevante semánticamente.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5968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cross-encoder analiza la pregunta y cada fragmento JUNTOS para evaluar la relevancia real, no solo la similitud de vectores.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9684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fragmentos se reordenan → el LLM recibe el contexto de mayor calidad.</a:t>
            </a:r>
            <a:endParaRPr lang="en-US" sz="11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9F3143BA-4E2D-7978-FB4C-C2B6A619B85C}"/>
              </a:ext>
            </a:extLst>
          </p:cNvPr>
          <p:cNvSpPr/>
          <p:nvPr/>
        </p:nvSpPr>
        <p:spPr>
          <a:xfrm>
            <a:off x="1169350" y="4796028"/>
            <a:ext cx="68053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200" dirty="0">
                <a:solidFill>
                  <a:schemeClr val="bg1"/>
                </a:solidFill>
              </a:rPr>
              <a:t>Pregunta→   FAISS + BM25→   varios resultados  →   </a:t>
            </a:r>
            <a:r>
              <a:rPr lang="es-ES" sz="1200" dirty="0" err="1">
                <a:solidFill>
                  <a:schemeClr val="bg1"/>
                </a:solidFill>
              </a:rPr>
              <a:t>Reranker</a:t>
            </a:r>
            <a:r>
              <a:rPr lang="es-ES" sz="1200" dirty="0">
                <a:solidFill>
                  <a:schemeClr val="bg1"/>
                </a:solidFill>
              </a:rPr>
              <a:t>  →  mejores resultados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Alucinaciones, Grounding y Citaciones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Hallucination Guard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28600" cy="2286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el modelo puede inventar datos.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28600" cy="2286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740664" y="2606040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cada respuesta es comparada contra el contexto recuperado.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75888"/>
            <a:ext cx="228600" cy="2286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740664" y="3630168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respuesta no está respaldada → se descarta o se marca.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3246120" y="960120"/>
            <a:ext cx="2743200" cy="502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333756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Grounding Score (0–1)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1627632"/>
            <a:ext cx="228600" cy="2286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3666744" y="1581912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qué tan fundamentada está la respuesta.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2651760"/>
            <a:ext cx="228600" cy="2286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3666744" y="2606040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1.0 = completamente respaldada por el texto.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3675888"/>
            <a:ext cx="228600" cy="2286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3666744" y="3630168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0.0 = la respuesta no tiene evidencia en los docs.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6172200" y="960120"/>
            <a:ext cx="27432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626364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Citation per Sentence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1627632"/>
            <a:ext cx="228600" cy="2286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6592824" y="1581912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oración de la respuesta lleva su fuente.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2651760"/>
            <a:ext cx="228600" cy="2286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6592824" y="2606040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"La IA reduce costos [Fuente: doc3, p.12]"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3675888"/>
            <a:ext cx="228600" cy="22860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6592824" y="3630168"/>
            <a:ext cx="22128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confianza y permite verificar manualmente.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30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04DA864-A1A5-8D48-A395-63D984A3D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46" y="1425692"/>
            <a:ext cx="8028708" cy="29759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746BF-EA3C-DCAF-C8F7-67077CF3C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A123D7-FE0F-9C59-05BA-FBDB68E9ACF8}"/>
              </a:ext>
            </a:extLst>
          </p:cNvPr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B74E2F-80C6-965E-CA0D-657ADA63E478}"/>
              </a:ext>
            </a:extLst>
          </p:cNvPr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3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1AF7D1-BDBE-614C-5FD0-9C2998A83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56" y="1279418"/>
            <a:ext cx="7636287" cy="312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24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Automática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BLEU Score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554480"/>
            <a:ext cx="25237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cuántas palabras de la respuesta generada coinciden con la respuesta esperada.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si la respuesta ideal tiene 10 palabras y el modelo acierta 8 → BLEU ≈ 0.8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" y="4178808"/>
            <a:ext cx="2523744" cy="475488"/>
          </a:xfrm>
          <a:prstGeom prst="rect">
            <a:avLst/>
          </a:prstGeom>
          <a:solidFill>
            <a:srgbClr val="1B4F72">
              <a:alpha val="20000"/>
            </a:srgbClr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84632" y="418795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Útil para preguntas con respuesta única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43200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33756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ROUGE Score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55848" y="1554480"/>
            <a:ext cx="25237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superposición de n-gramas (secuencias de palabras) entre la respuesta y la referencia.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ROUGE-1: palabras individuales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ROUGE-2: pares de palabras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55848" y="4178808"/>
            <a:ext cx="2523744" cy="475488"/>
          </a:xfrm>
          <a:prstGeom prst="rect">
            <a:avLst/>
          </a:prstGeom>
          <a:solidFill>
            <a:srgbClr val="922B21">
              <a:alpha val="20000"/>
            </a:srgbClr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3410712" y="418795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Mejor para respuestas largas y resúmenes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6172200" y="960120"/>
            <a:ext cx="2743200" cy="502920"/>
          </a:xfrm>
          <a:prstGeom prst="rect">
            <a:avLst/>
          </a:prstGeom>
          <a:solidFill>
            <a:srgbClr val="1A6E8E"/>
          </a:solidFill>
          <a:ln w="12700">
            <a:solidFill>
              <a:srgbClr val="1A6E8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26364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Grounding 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81928" y="1554480"/>
            <a:ext cx="25237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respaldada está cada oración de la respuesta en los documentos recuperados.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similitud semántica entre respuesta y contexto.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81928" y="4178808"/>
            <a:ext cx="2523744" cy="475488"/>
          </a:xfrm>
          <a:prstGeom prst="rect">
            <a:avLst/>
          </a:prstGeom>
          <a:solidFill>
            <a:srgbClr val="1A6E8E">
              <a:alpha val="20000"/>
            </a:srgbClr>
          </a:solidFill>
          <a:ln w="12700">
            <a:solidFill>
              <a:srgbClr val="1A6E8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336792" y="418795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Específico para sistemas RAG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2468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Pruebas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preguntas reales · 3 temas distintos  ·  0 alucinaciones detectadas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212848" cy="347472"/>
          </a:xfrm>
          <a:prstGeom prst="rect">
            <a:avLst/>
          </a:prstGeom>
          <a:solidFill>
            <a:srgbClr val="112A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468880" y="1143000"/>
            <a:ext cx="1536192" cy="347472"/>
          </a:xfrm>
          <a:prstGeom prst="rect">
            <a:avLst/>
          </a:prstGeom>
          <a:solidFill>
            <a:srgbClr val="112A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2514600" y="114300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41648" y="1143000"/>
            <a:ext cx="1261872" cy="347472"/>
          </a:xfrm>
          <a:prstGeom prst="rect">
            <a:avLst/>
          </a:prstGeom>
          <a:solidFill>
            <a:srgbClr val="112A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087368" y="114300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Halluc.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321808" y="1143000"/>
            <a:ext cx="1261872" cy="347472"/>
          </a:xfrm>
          <a:prstGeom prst="rect">
            <a:avLst/>
          </a:prstGeom>
          <a:solidFill>
            <a:srgbClr val="112A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5367528" y="114300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H. Score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01968" y="1143000"/>
            <a:ext cx="1261872" cy="347472"/>
          </a:xfrm>
          <a:prstGeom prst="rect">
            <a:avLst/>
          </a:prstGeom>
          <a:solidFill>
            <a:srgbClr val="112A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647688" y="114300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882128" y="1143000"/>
            <a:ext cx="1234440" cy="347472"/>
          </a:xfrm>
          <a:prstGeom prst="rect">
            <a:avLst/>
          </a:prstGeom>
          <a:solidFill>
            <a:srgbClr val="112A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927848" y="1143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28600" y="1508760"/>
            <a:ext cx="2212848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274320" y="150876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468880" y="1508760"/>
            <a:ext cx="153619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2514600" y="1508760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041648" y="1508760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4087368" y="1508760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Confiable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321808" y="1508760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5367528" y="1508760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601968" y="1508760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6647688" y="1508760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882128" y="1508760"/>
            <a:ext cx="1234440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7927848" y="15087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OK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8600" y="1929384"/>
            <a:ext cx="2212848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274320" y="1929384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does RAG improve LLM?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468880" y="1929384"/>
            <a:ext cx="153619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2514600" y="1929384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041648" y="1929384"/>
            <a:ext cx="126187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4087368" y="1929384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Confiable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321808" y="1929384"/>
            <a:ext cx="126187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5367528" y="1929384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601968" y="1929384"/>
            <a:ext cx="126187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8" name="Text 36"/>
          <p:cNvSpPr/>
          <p:nvPr/>
        </p:nvSpPr>
        <p:spPr>
          <a:xfrm>
            <a:off x="6647688" y="1929384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882128" y="1929384"/>
            <a:ext cx="1234440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0" name="Text 38"/>
          <p:cNvSpPr/>
          <p:nvPr/>
        </p:nvSpPr>
        <p:spPr>
          <a:xfrm>
            <a:off x="7927848" y="19293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OK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28600" y="2350008"/>
            <a:ext cx="2212848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2" name="Text 40"/>
          <p:cNvSpPr/>
          <p:nvPr/>
        </p:nvSpPr>
        <p:spPr>
          <a:xfrm>
            <a:off x="274320" y="2350008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Role of embeddings in RAG?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468880" y="2350008"/>
            <a:ext cx="153619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4" name="Text 42"/>
          <p:cNvSpPr/>
          <p:nvPr/>
        </p:nvSpPr>
        <p:spPr>
          <a:xfrm>
            <a:off x="2514600" y="2350008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041648" y="2350008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6" name="Text 44"/>
          <p:cNvSpPr/>
          <p:nvPr/>
        </p:nvSpPr>
        <p:spPr>
          <a:xfrm>
            <a:off x="4087368" y="2350008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Confiable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321808" y="2350008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8" name="Text 46"/>
          <p:cNvSpPr/>
          <p:nvPr/>
        </p:nvSpPr>
        <p:spPr>
          <a:xfrm>
            <a:off x="5367528" y="2350008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01968" y="2350008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0" name="Text 48"/>
          <p:cNvSpPr/>
          <p:nvPr/>
        </p:nvSpPr>
        <p:spPr>
          <a:xfrm>
            <a:off x="6647688" y="2350008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882128" y="2350008"/>
            <a:ext cx="1234440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2" name="Text 50"/>
          <p:cNvSpPr/>
          <p:nvPr/>
        </p:nvSpPr>
        <p:spPr>
          <a:xfrm>
            <a:off x="7927848" y="23500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OK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28600" y="2770632"/>
            <a:ext cx="2212848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4" name="Text 52"/>
          <p:cNvSpPr/>
          <p:nvPr/>
        </p:nvSpPr>
        <p:spPr>
          <a:xfrm>
            <a:off x="274320" y="2770632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are mental models?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468880" y="2770632"/>
            <a:ext cx="153619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6" name="Text 54"/>
          <p:cNvSpPr/>
          <p:nvPr/>
        </p:nvSpPr>
        <p:spPr>
          <a:xfrm>
            <a:off x="2514600" y="2770632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041648" y="2770632"/>
            <a:ext cx="126187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8" name="Text 56"/>
          <p:cNvSpPr/>
          <p:nvPr/>
        </p:nvSpPr>
        <p:spPr>
          <a:xfrm>
            <a:off x="4087368" y="2770632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Confiable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321808" y="2770632"/>
            <a:ext cx="126187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0" name="Text 58"/>
          <p:cNvSpPr/>
          <p:nvPr/>
        </p:nvSpPr>
        <p:spPr>
          <a:xfrm>
            <a:off x="5367528" y="2770632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601968" y="2770632"/>
            <a:ext cx="126187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2" name="Text 60"/>
          <p:cNvSpPr/>
          <p:nvPr/>
        </p:nvSpPr>
        <p:spPr>
          <a:xfrm>
            <a:off x="6647688" y="2770632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882128" y="2770632"/>
            <a:ext cx="1234440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4" name="Text 62"/>
          <p:cNvSpPr/>
          <p:nvPr/>
        </p:nvSpPr>
        <p:spPr>
          <a:xfrm>
            <a:off x="7927848" y="27706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OK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228600" y="3191256"/>
            <a:ext cx="2212848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6" name="Text 64"/>
          <p:cNvSpPr/>
          <p:nvPr/>
        </p:nvSpPr>
        <p:spPr>
          <a:xfrm>
            <a:off x="274320" y="319125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Why are mental models imp.?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2468880" y="3191256"/>
            <a:ext cx="153619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8" name="Text 66"/>
          <p:cNvSpPr/>
          <p:nvPr/>
        </p:nvSpPr>
        <p:spPr>
          <a:xfrm>
            <a:off x="2514600" y="3191256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4041648" y="3191256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0" name="Text 68"/>
          <p:cNvSpPr/>
          <p:nvPr/>
        </p:nvSpPr>
        <p:spPr>
          <a:xfrm>
            <a:off x="4087368" y="3191256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Confiable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321808" y="3191256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2" name="Text 70"/>
          <p:cNvSpPr/>
          <p:nvPr/>
        </p:nvSpPr>
        <p:spPr>
          <a:xfrm>
            <a:off x="5367528" y="3191256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6601968" y="3191256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4" name="Text 72"/>
          <p:cNvSpPr/>
          <p:nvPr/>
        </p:nvSpPr>
        <p:spPr>
          <a:xfrm>
            <a:off x="6647688" y="3191256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7882128" y="3191256"/>
            <a:ext cx="1234440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6" name="Text 74"/>
          <p:cNvSpPr/>
          <p:nvPr/>
        </p:nvSpPr>
        <p:spPr>
          <a:xfrm>
            <a:off x="7927848" y="31912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OK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228600" y="3611880"/>
            <a:ext cx="2212848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8" name="Text 76"/>
          <p:cNvSpPr/>
          <p:nvPr/>
        </p:nvSpPr>
        <p:spPr>
          <a:xfrm>
            <a:off x="274320" y="3611880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emotional intelligence?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2468880" y="3611880"/>
            <a:ext cx="153619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0" name="Text 78"/>
          <p:cNvSpPr/>
          <p:nvPr/>
        </p:nvSpPr>
        <p:spPr>
          <a:xfrm>
            <a:off x="2514600" y="3611880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Emociones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4041648" y="3611880"/>
            <a:ext cx="126187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2" name="Text 80"/>
          <p:cNvSpPr/>
          <p:nvPr/>
        </p:nvSpPr>
        <p:spPr>
          <a:xfrm>
            <a:off x="4087368" y="3611880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Confiable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5321808" y="3611880"/>
            <a:ext cx="126187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4" name="Text 82"/>
          <p:cNvSpPr/>
          <p:nvPr/>
        </p:nvSpPr>
        <p:spPr>
          <a:xfrm>
            <a:off x="5367528" y="3611880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6601968" y="3611880"/>
            <a:ext cx="1261872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6" name="Text 84"/>
          <p:cNvSpPr/>
          <p:nvPr/>
        </p:nvSpPr>
        <p:spPr>
          <a:xfrm>
            <a:off x="6647688" y="3611880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1.19*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7882128" y="3611880"/>
            <a:ext cx="1234440" cy="420624"/>
          </a:xfrm>
          <a:prstGeom prst="rect">
            <a:avLst/>
          </a:prstGeom>
          <a:solidFill>
            <a:srgbClr val="0A1828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8" name="Text 86"/>
          <p:cNvSpPr/>
          <p:nvPr/>
        </p:nvSpPr>
        <p:spPr>
          <a:xfrm>
            <a:off x="7927848" y="36118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OK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228600" y="4032504"/>
            <a:ext cx="2212848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0" name="Text 88"/>
          <p:cNvSpPr/>
          <p:nvPr/>
        </p:nvSpPr>
        <p:spPr>
          <a:xfrm>
            <a:off x="274320" y="4032504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leadership?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2468880" y="4032504"/>
            <a:ext cx="153619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2" name="Text 90"/>
          <p:cNvSpPr/>
          <p:nvPr/>
        </p:nvSpPr>
        <p:spPr>
          <a:xfrm>
            <a:off x="2514600" y="4032504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Liderazgo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4041648" y="4032504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4" name="Text 92"/>
          <p:cNvSpPr/>
          <p:nvPr/>
        </p:nvSpPr>
        <p:spPr>
          <a:xfrm>
            <a:off x="4087368" y="4032504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Confiable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5321808" y="4032504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6" name="Text 94"/>
          <p:cNvSpPr/>
          <p:nvPr/>
        </p:nvSpPr>
        <p:spPr>
          <a:xfrm>
            <a:off x="5367528" y="4032504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6601968" y="4032504"/>
            <a:ext cx="1261872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8" name="Text 96"/>
          <p:cNvSpPr/>
          <p:nvPr/>
        </p:nvSpPr>
        <p:spPr>
          <a:xfrm>
            <a:off x="6647688" y="4032504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7882128" y="4032504"/>
            <a:ext cx="1234440" cy="420624"/>
          </a:xfrm>
          <a:prstGeom prst="rect">
            <a:avLst/>
          </a:prstGeom>
          <a:solidFill>
            <a:srgbClr val="0D1F3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0" name="Text 98"/>
          <p:cNvSpPr/>
          <p:nvPr/>
        </p:nvSpPr>
        <p:spPr>
          <a:xfrm>
            <a:off x="7927848" y="40325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4ADE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✅ OK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228600" y="4544568"/>
            <a:ext cx="2029968" cy="475488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2" name="Text 100"/>
          <p:cNvSpPr/>
          <p:nvPr/>
        </p:nvSpPr>
        <p:spPr>
          <a:xfrm>
            <a:off x="228600" y="45445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1143000" y="45445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1143000" y="4791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+1 outlier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2404872" y="4544568"/>
            <a:ext cx="2029968" cy="475488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6" name="Text 104"/>
          <p:cNvSpPr/>
          <p:nvPr/>
        </p:nvSpPr>
        <p:spPr>
          <a:xfrm>
            <a:off x="2404872" y="45445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3319272" y="45445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Halluci.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Score Avg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3319272" y="4791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rango 0.43–0.83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4581144" y="4544568"/>
            <a:ext cx="2029968" cy="475488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0" name="Text 108"/>
          <p:cNvSpPr/>
          <p:nvPr/>
        </p:nvSpPr>
        <p:spPr>
          <a:xfrm>
            <a:off x="4581144" y="45445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5495544" y="45445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Respuestas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Confiables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5495544" y="4791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6757416" y="4544568"/>
            <a:ext cx="2029968" cy="475488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4" name="Text 112"/>
          <p:cNvSpPr/>
          <p:nvPr/>
        </p:nvSpPr>
        <p:spPr>
          <a:xfrm>
            <a:off x="6757416" y="45445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7671816" y="45445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Temas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Cubiertos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7671816" y="479145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RAG, MM, EI, Liderazgo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228600" y="5029200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* Grounding &gt;1.0 indica alta similitud semántica en respuesta corta y directa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840480" cy="38404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6858000" y="2560320"/>
            <a:ext cx="2560320" cy="2560320"/>
          </a:xfrm>
          <a:prstGeom prst="ellipse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7772400" cy="1248750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</a:t>
            </a:r>
            <a:r>
              <a:rPr lang="en-US" sz="13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472183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basadas en contexto real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correcto de fuentes (</a:t>
            </a:r>
            <a:r>
              <a:rPr lang="es-ES" sz="120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s-ES" sz="120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relevante y coherente</a:t>
            </a:r>
            <a:endParaRPr lang="en-US" sz="120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F869EE10-7E99-307F-021E-9509FBBD2207}"/>
              </a:ext>
            </a:extLst>
          </p:cNvPr>
          <p:cNvSpPr/>
          <p:nvPr/>
        </p:nvSpPr>
        <p:spPr>
          <a:xfrm>
            <a:off x="365760" y="2429583"/>
            <a:ext cx="7772400" cy="1248750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61F64508-42E8-D6C3-123C-E7DA54064ABF}"/>
              </a:ext>
            </a:extLst>
          </p:cNvPr>
          <p:cNvSpPr/>
          <p:nvPr/>
        </p:nvSpPr>
        <p:spPr>
          <a:xfrm>
            <a:off x="457200" y="2429583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970D389F-6548-6822-4594-853B9B82C3F5}"/>
              </a:ext>
            </a:extLst>
          </p:cNvPr>
          <p:cNvSpPr/>
          <p:nvPr/>
        </p:nvSpPr>
        <p:spPr>
          <a:xfrm>
            <a:off x="868680" y="2429583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3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3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801146C6-2D36-5724-F162-8417CB4E3CBA}"/>
              </a:ext>
            </a:extLst>
          </p:cNvPr>
          <p:cNvSpPr/>
          <p:nvPr/>
        </p:nvSpPr>
        <p:spPr>
          <a:xfrm>
            <a:off x="914400" y="289592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en </a:t>
            </a:r>
            <a:r>
              <a:rPr lang="es-ES" sz="120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s-ES" sz="12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s-ES" sz="120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</a:t>
            </a: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“</a:t>
            </a:r>
            <a:r>
              <a:rPr lang="es-ES" sz="120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20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</a:t>
            </a: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RAG?” → corregido)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consistentes en múltiples dominios</a:t>
            </a:r>
            <a:endParaRPr lang="en-US" sz="1200" dirty="0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83C8BC58-BE0B-89A0-8740-76335D09EF66}"/>
              </a:ext>
            </a:extLst>
          </p:cNvPr>
          <p:cNvSpPr/>
          <p:nvPr/>
        </p:nvSpPr>
        <p:spPr>
          <a:xfrm>
            <a:off x="365760" y="3821659"/>
            <a:ext cx="7772400" cy="1248750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61DF7DFB-F333-B196-5035-0DD064635DEE}"/>
              </a:ext>
            </a:extLst>
          </p:cNvPr>
          <p:cNvSpPr/>
          <p:nvPr/>
        </p:nvSpPr>
        <p:spPr>
          <a:xfrm>
            <a:off x="457200" y="3821659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122DD925-A67E-1F9C-5B1E-5BDCCEB8BC3A}"/>
              </a:ext>
            </a:extLst>
          </p:cNvPr>
          <p:cNvSpPr/>
          <p:nvPr/>
        </p:nvSpPr>
        <p:spPr>
          <a:xfrm>
            <a:off x="868680" y="3821659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b="1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3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3A443E31-F26B-2E58-1064-A7ABC4B9E41A}"/>
              </a:ext>
            </a:extLst>
          </p:cNvPr>
          <p:cNvSpPr/>
          <p:nvPr/>
        </p:nvSpPr>
        <p:spPr>
          <a:xfrm>
            <a:off x="914400" y="428800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documentos recuperados inicialmente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documentos tras </a:t>
            </a:r>
            <a:r>
              <a:rPr lang="es-ES" sz="120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s-ES" sz="1200" dirty="0">
              <a:solidFill>
                <a:srgbClr val="F0F4F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documento final usado como contexto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9A092-FCA7-58F1-AF76-2944A4026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8DE17E-37E2-C82D-680F-12A6372C8000}"/>
              </a:ext>
            </a:extLst>
          </p:cNvPr>
          <p:cNvSpPr/>
          <p:nvPr/>
        </p:nvSpPr>
        <p:spPr>
          <a:xfrm>
            <a:off x="6217920" y="-457200"/>
            <a:ext cx="3840480" cy="38404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72DA7B-57E0-B11C-A81D-886F9DE09AFD}"/>
              </a:ext>
            </a:extLst>
          </p:cNvPr>
          <p:cNvSpPr/>
          <p:nvPr/>
        </p:nvSpPr>
        <p:spPr>
          <a:xfrm>
            <a:off x="6858000" y="2560320"/>
            <a:ext cx="2560320" cy="2560320"/>
          </a:xfrm>
          <a:prstGeom prst="ellipse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A4A7BF3-3854-A18D-D908-C091F8658AB4}"/>
              </a:ext>
            </a:extLst>
          </p:cNvPr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63B988-3DC3-FDA9-B131-A407F70D96FC}"/>
              </a:ext>
            </a:extLst>
          </p:cNvPr>
          <p:cNvSpPr/>
          <p:nvPr/>
        </p:nvSpPr>
        <p:spPr>
          <a:xfrm>
            <a:off x="457200" y="274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9F0746C-B861-7C06-1534-B856147E6418}"/>
              </a:ext>
            </a:extLst>
          </p:cNvPr>
          <p:cNvSpPr/>
          <p:nvPr/>
        </p:nvSpPr>
        <p:spPr>
          <a:xfrm>
            <a:off x="365760" y="1005840"/>
            <a:ext cx="7772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EFA921-5188-9CA4-839E-A2843BDC7634}"/>
              </a:ext>
            </a:extLst>
          </p:cNvPr>
          <p:cNvSpPr/>
          <p:nvPr/>
        </p:nvSpPr>
        <p:spPr>
          <a:xfrm>
            <a:off x="457200" y="100584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DDA08D-82AA-F5BF-65BE-4AA8835FBB26}"/>
              </a:ext>
            </a:extLst>
          </p:cNvPr>
          <p:cNvSpPr/>
          <p:nvPr/>
        </p:nvSpPr>
        <p:spPr>
          <a:xfrm>
            <a:off x="868680" y="10058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 completo —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067BA81-F4A0-7B7C-8872-2C7A0901EC54}"/>
              </a:ext>
            </a:extLst>
          </p:cNvPr>
          <p:cNvSpPr/>
          <p:nvPr/>
        </p:nvSpPr>
        <p:spPr>
          <a:xfrm>
            <a:off x="3017520" y="100584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documentos reales hasta respuesta fundamentada.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C0EEB7D-0192-48B8-8562-3D9F5B050922}"/>
              </a:ext>
            </a:extLst>
          </p:cNvPr>
          <p:cNvSpPr/>
          <p:nvPr/>
        </p:nvSpPr>
        <p:spPr>
          <a:xfrm>
            <a:off x="365760" y="1801368"/>
            <a:ext cx="7772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DAC1EA-0659-D942-0E2F-540A86748498}"/>
              </a:ext>
            </a:extLst>
          </p:cNvPr>
          <p:cNvSpPr/>
          <p:nvPr/>
        </p:nvSpPr>
        <p:spPr>
          <a:xfrm>
            <a:off x="457200" y="180136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4D7A5DD-CD60-026E-76E3-CAB898C5834C}"/>
              </a:ext>
            </a:extLst>
          </p:cNvPr>
          <p:cNvSpPr/>
          <p:nvPr/>
        </p:nvSpPr>
        <p:spPr>
          <a:xfrm>
            <a:off x="868680" y="180136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eficiente —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E4094F1-0B45-33F5-B821-67B176010C44}"/>
              </a:ext>
            </a:extLst>
          </p:cNvPr>
          <p:cNvSpPr/>
          <p:nvPr/>
        </p:nvSpPr>
        <p:spPr>
          <a:xfrm>
            <a:off x="3017520" y="180136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HNSW permite escalar a millones de fragmentos.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DB25569-D39A-9C0A-7A1D-11FB3394FFD5}"/>
              </a:ext>
            </a:extLst>
          </p:cNvPr>
          <p:cNvSpPr/>
          <p:nvPr/>
        </p:nvSpPr>
        <p:spPr>
          <a:xfrm>
            <a:off x="365760" y="2596896"/>
            <a:ext cx="7772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C9D5FBE-0A88-EEDA-9C43-9C9D2959D39F}"/>
              </a:ext>
            </a:extLst>
          </p:cNvPr>
          <p:cNvSpPr/>
          <p:nvPr/>
        </p:nvSpPr>
        <p:spPr>
          <a:xfrm>
            <a:off x="457200" y="2596896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E60F948-222B-D510-C9C7-0D1D89ADDA94}"/>
              </a:ext>
            </a:extLst>
          </p:cNvPr>
          <p:cNvSpPr/>
          <p:nvPr/>
        </p:nvSpPr>
        <p:spPr>
          <a:xfrm>
            <a:off x="868680" y="25968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recuperación —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10F7B3C-DA3A-EDB7-E457-6AD07751E837}"/>
              </a:ext>
            </a:extLst>
          </p:cNvPr>
          <p:cNvSpPr/>
          <p:nvPr/>
        </p:nvSpPr>
        <p:spPr>
          <a:xfrm>
            <a:off x="3017520" y="2596896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reranker mejora la relevancia del contexto entregado al LLM.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1490963-E2CF-273D-F633-3C3447CA0E8A}"/>
              </a:ext>
            </a:extLst>
          </p:cNvPr>
          <p:cNvSpPr/>
          <p:nvPr/>
        </p:nvSpPr>
        <p:spPr>
          <a:xfrm>
            <a:off x="365760" y="3392424"/>
            <a:ext cx="7772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A2048B6-A262-9E40-46E3-DAEFDFAF8B5C}"/>
              </a:ext>
            </a:extLst>
          </p:cNvPr>
          <p:cNvSpPr/>
          <p:nvPr/>
        </p:nvSpPr>
        <p:spPr>
          <a:xfrm>
            <a:off x="457200" y="339242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BF60357-A1BF-E1CA-DEA1-D991D1F1D3CA}"/>
              </a:ext>
            </a:extLst>
          </p:cNvPr>
          <p:cNvSpPr/>
          <p:nvPr/>
        </p:nvSpPr>
        <p:spPr>
          <a:xfrm>
            <a:off x="868680" y="33924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alucinaciones —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B62FBEB-B2A8-495E-D251-01B4E1D8D109}"/>
              </a:ext>
            </a:extLst>
          </p:cNvPr>
          <p:cNvSpPr/>
          <p:nvPr/>
        </p:nvSpPr>
        <p:spPr>
          <a:xfrm>
            <a:off x="3017520" y="339242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score + citation per sentence garantizan veracidad.</a:t>
            </a:r>
            <a:endParaRPr lang="en-US" sz="12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6532050-FD9C-E63F-A378-9F01ADE9562B}"/>
              </a:ext>
            </a:extLst>
          </p:cNvPr>
          <p:cNvSpPr/>
          <p:nvPr/>
        </p:nvSpPr>
        <p:spPr>
          <a:xfrm>
            <a:off x="365760" y="4187952"/>
            <a:ext cx="7772400" cy="658368"/>
          </a:xfrm>
          <a:prstGeom prst="rect">
            <a:avLst/>
          </a:prstGeom>
          <a:solidFill>
            <a:srgbClr val="1A2E4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762B6CD-66E8-E3C8-35CA-9A0C957A8504}"/>
              </a:ext>
            </a:extLst>
          </p:cNvPr>
          <p:cNvSpPr/>
          <p:nvPr/>
        </p:nvSpPr>
        <p:spPr>
          <a:xfrm>
            <a:off x="457200" y="4187952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62D4891-CECF-8A71-E264-EF46AB04E109}"/>
              </a:ext>
            </a:extLst>
          </p:cNvPr>
          <p:cNvSpPr/>
          <p:nvPr/>
        </p:nvSpPr>
        <p:spPr>
          <a:xfrm>
            <a:off x="868680" y="41879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objetiva —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E5DFDB0-EEFE-5317-50F4-B208C656976F}"/>
              </a:ext>
            </a:extLst>
          </p:cNvPr>
          <p:cNvSpPr/>
          <p:nvPr/>
        </p:nvSpPr>
        <p:spPr>
          <a:xfrm>
            <a:off x="3017520" y="418795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BLEU/ROUGE permiten evaluar la calidad de forma automática.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33304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1136</Words>
  <Application>Microsoft Office PowerPoint</Application>
  <PresentationFormat>Presentación en pantalla (16:9)</PresentationFormat>
  <Paragraphs>269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ExecCoach AI</dc:title>
  <dc:subject>PptxGenJS Presentation</dc:subject>
  <dc:creator>PptxGenJS</dc:creator>
  <cp:lastModifiedBy>MIGUEL ANGEL YEPEZ ANGLAS</cp:lastModifiedBy>
  <cp:revision>5</cp:revision>
  <dcterms:created xsi:type="dcterms:W3CDTF">2026-03-23T23:07:06Z</dcterms:created>
  <dcterms:modified xsi:type="dcterms:W3CDTF">2026-03-24T01:48:20Z</dcterms:modified>
</cp:coreProperties>
</file>